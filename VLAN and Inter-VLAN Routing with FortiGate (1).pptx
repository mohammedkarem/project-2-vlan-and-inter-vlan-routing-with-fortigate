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embeddedFontLst>
    <p:embeddedFont>
      <p:font typeface="Lato" panose="020F0502020204030203" pitchFamily="34" charset="0"/>
      <p:regular r:id="rId22"/>
      <p:bold r:id="rId23"/>
      <p:italic r:id="rId24"/>
      <p:boldItalic r:id="rId25"/>
    </p:embeddedFont>
    <p:embeddedFont>
      <p:font typeface="Poppins" panose="00000500000000000000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114" y="1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jp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057400"/>
            <a:ext cx="11601450" cy="20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VLAN and Inter-VLAN Routing with FortiGate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85758" y="4267200"/>
            <a:ext cx="110490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Mohamed Karem Ali (Team Leader) – Youssef Ayed Youssef Ashyry – Eyad Ashraf Ahmed – </a:t>
            </a:r>
            <a:endParaRPr sz="18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Micheal George Ibrahim wadeh –Mohamed Yasser Moustafa Mohamed</a:t>
            </a:r>
            <a:endParaRPr sz="18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571500" y="1762125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Core Components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571500" y="2390775"/>
            <a:ext cx="52863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Switches (SW1, SW2, SW4) manage LAN segmentation.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2819400"/>
            <a:ext cx="52863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FortiGate 60F acts as the core router and firewall.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3248025"/>
            <a:ext cx="52863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VLANs are distributed across switches to isolate departments.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3848100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VLAN Distribution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4448175"/>
            <a:ext cx="52863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VLAN10: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Sales (192.168.10.0/24)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4848225"/>
            <a:ext cx="52863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VLAN20: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IT (192.168.20.0/24)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71500" y="5248275"/>
            <a:ext cx="52863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VLAN30: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HR (192.168.30.0/24)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71500" y="5648325"/>
            <a:ext cx="52863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VLAN40: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Manager (192.168.40.0/24)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571500" y="579315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Network Topology &amp; IP Plan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A0A6BC1-BE3C-0802-60C6-D1D8B068D2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6646" y="1842771"/>
            <a:ext cx="6739152" cy="38773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94877" y="-9525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title="IMG-20251114-WA0009.jpg"/>
          <p:cNvPicPr preferRelativeResize="0"/>
          <p:nvPr/>
        </p:nvPicPr>
        <p:blipFill rotWithShape="1">
          <a:blip r:embed="rId4">
            <a:alphaModFix/>
          </a:blip>
          <a:srcRect l="6544" r="6536"/>
          <a:stretch/>
        </p:blipFill>
        <p:spPr>
          <a:xfrm>
            <a:off x="571500" y="2190750"/>
            <a:ext cx="53340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title="IMG-20251114-WA0002.jpg"/>
          <p:cNvPicPr preferRelativeResize="0"/>
          <p:nvPr/>
        </p:nvPicPr>
        <p:blipFill rotWithShape="1">
          <a:blip r:embed="rId5">
            <a:alphaModFix/>
          </a:blip>
          <a:srcRect l="7199" r="7199"/>
          <a:stretch/>
        </p:blipFill>
        <p:spPr>
          <a:xfrm>
            <a:off x="6286500" y="2190750"/>
            <a:ext cx="53340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571500" y="523875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Trunk ports configured for 802.1q (dot1q) tagging to carry all VLANs.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6286500" y="523875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VLAN database is active and populated on all switches in the topology.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Switch Config: Trunk &amp; VLAN DB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title="IMG-20251114-WA0007.jpg"/>
          <p:cNvPicPr preferRelativeResize="0"/>
          <p:nvPr/>
        </p:nvPicPr>
        <p:blipFill rotWithShape="1">
          <a:blip r:embed="rId4">
            <a:alphaModFix/>
          </a:blip>
          <a:srcRect t="806" b="816"/>
          <a:stretch/>
        </p:blipFill>
        <p:spPr>
          <a:xfrm>
            <a:off x="571500" y="2076450"/>
            <a:ext cx="53340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 title="IMG-20251114-WA0003.jpg"/>
          <p:cNvPicPr preferRelativeResize="0"/>
          <p:nvPr/>
        </p:nvPicPr>
        <p:blipFill rotWithShape="1">
          <a:blip r:embed="rId5">
            <a:alphaModFix/>
          </a:blip>
          <a:srcRect l="4792" r="4792"/>
          <a:stretch/>
        </p:blipFill>
        <p:spPr>
          <a:xfrm>
            <a:off x="6286500" y="2076450"/>
            <a:ext cx="5334000" cy="2857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571500" y="5124450"/>
            <a:ext cx="533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SW1 carries VLAN10 (Sales) and VLAN20 (IT). Access ports are assigned accordingly.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6286500" y="5124450"/>
            <a:ext cx="533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SW2 also carries VLAN10 (Sales) and VLAN20 (IT), providing departmental redundancy.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SW1 &amp; SW2 VLAN Brief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7" title="IMG-20251114-WA0008.jpg"/>
          <p:cNvPicPr preferRelativeResize="0"/>
          <p:nvPr/>
        </p:nvPicPr>
        <p:blipFill rotWithShape="1">
          <a:blip r:embed="rId4">
            <a:alphaModFix/>
          </a:blip>
          <a:srcRect l="7855" r="7855"/>
          <a:stretch/>
        </p:blipFill>
        <p:spPr>
          <a:xfrm>
            <a:off x="571500" y="2190750"/>
            <a:ext cx="5334000" cy="2857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7" title="IMG-20251114-WA0005.jpg"/>
          <p:cNvPicPr preferRelativeResize="0"/>
          <p:nvPr/>
        </p:nvPicPr>
        <p:blipFill rotWithShape="1">
          <a:blip r:embed="rId5">
            <a:alphaModFix/>
          </a:blip>
          <a:srcRect l="5373" r="5373"/>
          <a:stretch/>
        </p:blipFill>
        <p:spPr>
          <a:xfrm>
            <a:off x="6286500" y="2190750"/>
            <a:ext cx="53340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7"/>
          <p:cNvSpPr txBox="1"/>
          <p:nvPr/>
        </p:nvSpPr>
        <p:spPr>
          <a:xfrm>
            <a:off x="571500" y="523875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SW4 is configured for VLAN30 (HR) and VLAN40 (Manager).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6286500" y="523875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Access and trunk ports are assigned to connect to endpoints and the core.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SW4 Configuration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8" title="1.jpg"/>
          <p:cNvPicPr preferRelativeResize="0"/>
          <p:nvPr/>
        </p:nvPicPr>
        <p:blipFill rotWithShape="1">
          <a:blip r:embed="rId4">
            <a:alphaModFix/>
          </a:blip>
          <a:srcRect l="5884" r="5884"/>
          <a:stretch/>
        </p:blipFill>
        <p:spPr>
          <a:xfrm>
            <a:off x="571500" y="2190750"/>
            <a:ext cx="53340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8" title="IMG-20251114-WA0006.jpg"/>
          <p:cNvPicPr preferRelativeResize="0"/>
          <p:nvPr/>
        </p:nvPicPr>
        <p:blipFill rotWithShape="1">
          <a:blip r:embed="rId5">
            <a:alphaModFix/>
          </a:blip>
          <a:srcRect l="5084" r="5084"/>
          <a:stretch/>
        </p:blipFill>
        <p:spPr>
          <a:xfrm>
            <a:off x="6286500" y="2190750"/>
            <a:ext cx="5334000" cy="285749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8"/>
          <p:cNvSpPr txBox="1"/>
          <p:nvPr/>
        </p:nvSpPr>
        <p:spPr>
          <a:xfrm>
            <a:off x="571500" y="523875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Summary of SW1 CLI configuration, showing interface status and VLANs.</a:t>
            </a:r>
            <a:endParaRPr/>
          </a:p>
        </p:txBody>
      </p:sp>
      <p:sp>
        <p:nvSpPr>
          <p:cNvPr id="141" name="Google Shape;141;p18"/>
          <p:cNvSpPr txBox="1"/>
          <p:nvPr/>
        </p:nvSpPr>
        <p:spPr>
          <a:xfrm>
            <a:off x="6286500" y="523875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Summary of SW2 CLI configuration, mirroring SW1 for redundancy.</a:t>
            </a:r>
            <a:endParaRPr/>
          </a:p>
        </p:txBody>
      </p:sp>
      <p:sp>
        <p:nvSpPr>
          <p:cNvPr id="142" name="Google Shape;142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Switch CLI Configuration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>
            <a:off x="571500" y="1438275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Trunk Port (to FortiGate)</a:t>
            </a:r>
            <a:endParaRPr/>
          </a:p>
        </p:txBody>
      </p:sp>
      <p:sp>
        <p:nvSpPr>
          <p:cNvPr id="149" name="Google Shape;149;p19"/>
          <p:cNvSpPr txBox="1"/>
          <p:nvPr/>
        </p:nvSpPr>
        <p:spPr>
          <a:xfrm>
            <a:off x="571500" y="2066925"/>
            <a:ext cx="52863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interface GigabitEthernet1/0/1</a:t>
            </a:r>
            <a:endParaRPr/>
          </a:p>
        </p:txBody>
      </p:sp>
      <p:sp>
        <p:nvSpPr>
          <p:cNvPr id="150" name="Google Shape;150;p19"/>
          <p:cNvSpPr txBox="1"/>
          <p:nvPr/>
        </p:nvSpPr>
        <p:spPr>
          <a:xfrm>
            <a:off x="571500" y="2505075"/>
            <a:ext cx="52863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  switchport mode trunk</a:t>
            </a:r>
            <a:endParaRPr/>
          </a:p>
        </p:txBody>
      </p:sp>
      <p:sp>
        <p:nvSpPr>
          <p:cNvPr id="151" name="Google Shape;151;p19"/>
          <p:cNvSpPr txBox="1"/>
          <p:nvPr/>
        </p:nvSpPr>
        <p:spPr>
          <a:xfrm>
            <a:off x="571500" y="2943225"/>
            <a:ext cx="52863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  switchport trunk encapsulation dot1q</a:t>
            </a:r>
            <a:endParaRPr/>
          </a:p>
        </p:txBody>
      </p:sp>
      <p:sp>
        <p:nvSpPr>
          <p:cNvPr id="152" name="Google Shape;152;p19"/>
          <p:cNvSpPr txBox="1"/>
          <p:nvPr/>
        </p:nvSpPr>
        <p:spPr>
          <a:xfrm>
            <a:off x="571500" y="3381375"/>
            <a:ext cx="52863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  switchport trunk allowed vlan 10,20,30,40</a:t>
            </a:r>
            <a:endParaRPr/>
          </a:p>
        </p:txBody>
      </p:sp>
      <p:sp>
        <p:nvSpPr>
          <p:cNvPr id="153" name="Google Shape;153;p19"/>
          <p:cNvSpPr txBox="1"/>
          <p:nvPr/>
        </p:nvSpPr>
        <p:spPr>
          <a:xfrm>
            <a:off x="571500" y="3990975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Access Port (e.g., Sales)</a:t>
            </a:r>
            <a:endParaRPr/>
          </a:p>
        </p:txBody>
      </p:sp>
      <p:sp>
        <p:nvSpPr>
          <p:cNvPr id="154" name="Google Shape;154;p19"/>
          <p:cNvSpPr txBox="1"/>
          <p:nvPr/>
        </p:nvSpPr>
        <p:spPr>
          <a:xfrm>
            <a:off x="571500" y="4619625"/>
            <a:ext cx="52863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interface GigabitEthernet1/0/5</a:t>
            </a:r>
            <a:endParaRPr/>
          </a:p>
        </p:txBody>
      </p:sp>
      <p:sp>
        <p:nvSpPr>
          <p:cNvPr id="155" name="Google Shape;155;p19"/>
          <p:cNvSpPr txBox="1"/>
          <p:nvPr/>
        </p:nvSpPr>
        <p:spPr>
          <a:xfrm>
            <a:off x="571500" y="5057775"/>
            <a:ext cx="52863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  switchport mode access</a:t>
            </a:r>
            <a:endParaRPr/>
          </a:p>
        </p:txBody>
      </p:sp>
      <p:sp>
        <p:nvSpPr>
          <p:cNvPr id="156" name="Google Shape;156;p19"/>
          <p:cNvSpPr txBox="1"/>
          <p:nvPr/>
        </p:nvSpPr>
        <p:spPr>
          <a:xfrm>
            <a:off x="571500" y="5495925"/>
            <a:ext cx="52863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  switchport access vlan 10</a:t>
            </a:r>
            <a:endParaRPr/>
          </a:p>
        </p:txBody>
      </p:sp>
      <p:sp>
        <p:nvSpPr>
          <p:cNvPr id="157" name="Google Shape;157;p19"/>
          <p:cNvSpPr txBox="1"/>
          <p:nvPr/>
        </p:nvSpPr>
        <p:spPr>
          <a:xfrm>
            <a:off x="571500" y="5934075"/>
            <a:ext cx="52863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  spanning-tree portfast</a:t>
            </a:r>
            <a:endParaRPr/>
          </a:p>
        </p:txBody>
      </p:sp>
      <p:sp>
        <p:nvSpPr>
          <p:cNvPr id="158" name="Google Shape;158;p19"/>
          <p:cNvSpPr txBox="1"/>
          <p:nvPr/>
        </p:nvSpPr>
        <p:spPr>
          <a:xfrm>
            <a:off x="571500" y="485775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Switch CLI – Code Example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0" title="IMG-20251114-WA0011.jpg"/>
          <p:cNvPicPr preferRelativeResize="0"/>
          <p:nvPr/>
        </p:nvPicPr>
        <p:blipFill rotWithShape="1">
          <a:blip r:embed="rId4">
            <a:alphaModFix/>
          </a:blip>
          <a:srcRect l="20373" r="20367"/>
          <a:stretch/>
        </p:blipFill>
        <p:spPr>
          <a:xfrm>
            <a:off x="5924250" y="1762125"/>
            <a:ext cx="6167824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0"/>
          <p:cNvSpPr txBox="1"/>
          <p:nvPr/>
        </p:nvSpPr>
        <p:spPr>
          <a:xfrm>
            <a:off x="571500" y="1762125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Physical &amp; Virtual Interfaces</a:t>
            </a:r>
            <a:endParaRPr/>
          </a:p>
        </p:txBody>
      </p:sp>
      <p:sp>
        <p:nvSpPr>
          <p:cNvPr id="166" name="Google Shape;166;p20"/>
          <p:cNvSpPr txBox="1"/>
          <p:nvPr/>
        </p:nvSpPr>
        <p:spPr>
          <a:xfrm>
            <a:off x="571500" y="2390775"/>
            <a:ext cx="52863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WAN interface (wan1) configured for external access.</a:t>
            </a:r>
            <a:endParaRPr/>
          </a:p>
        </p:txBody>
      </p:sp>
      <p:sp>
        <p:nvSpPr>
          <p:cNvPr id="167" name="Google Shape;167;p20"/>
          <p:cNvSpPr txBox="1"/>
          <p:nvPr/>
        </p:nvSpPr>
        <p:spPr>
          <a:xfrm>
            <a:off x="571500" y="2828925"/>
            <a:ext cx="52863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Internal port (e.g., internal) acts as the parent for VLAN sub-interfaces.</a:t>
            </a:r>
            <a:endParaRPr/>
          </a:p>
        </p:txBody>
      </p:sp>
      <p:sp>
        <p:nvSpPr>
          <p:cNvPr id="168" name="Google Shape;168;p20"/>
          <p:cNvSpPr txBox="1"/>
          <p:nvPr/>
        </p:nvSpPr>
        <p:spPr>
          <a:xfrm>
            <a:off x="571500" y="3267075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Sub-interfaces created for each VLAN (VLAN10, VLAN20, VLAN30, VLAN40).</a:t>
            </a:r>
            <a:endParaRPr/>
          </a:p>
        </p:txBody>
      </p:sp>
      <p:sp>
        <p:nvSpPr>
          <p:cNvPr id="169" name="Google Shape;169;p20"/>
          <p:cNvSpPr txBox="1"/>
          <p:nvPr/>
        </p:nvSpPr>
        <p:spPr>
          <a:xfrm>
            <a:off x="571500" y="3952875"/>
            <a:ext cx="52863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Each sub-interface acts as the gateway for its respective VLAN.</a:t>
            </a:r>
            <a:endParaRPr/>
          </a:p>
        </p:txBody>
      </p:sp>
      <p:sp>
        <p:nvSpPr>
          <p:cNvPr id="170" name="Google Shape;170;p20"/>
          <p:cNvSpPr txBox="1"/>
          <p:nvPr/>
        </p:nvSpPr>
        <p:spPr>
          <a:xfrm>
            <a:off x="571500" y="4381500"/>
            <a:ext cx="52863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DHCP server is enabled on each VLAN interface.</a:t>
            </a:r>
            <a:endParaRPr/>
          </a:p>
        </p:txBody>
      </p:sp>
      <p:sp>
        <p:nvSpPr>
          <p:cNvPr id="171" name="Google Shape;171;p2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FortiGate VLAN Interfaces (1)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1" title="IMG-20251114-WA0014.jpg"/>
          <p:cNvPicPr preferRelativeResize="0"/>
          <p:nvPr/>
        </p:nvPicPr>
        <p:blipFill rotWithShape="1">
          <a:blip r:embed="rId4">
            <a:alphaModFix/>
          </a:blip>
          <a:srcRect l="19265" r="19259"/>
          <a:stretch/>
        </p:blipFill>
        <p:spPr>
          <a:xfrm>
            <a:off x="6349740" y="1762125"/>
            <a:ext cx="5286374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1"/>
          <p:cNvSpPr txBox="1"/>
          <p:nvPr/>
        </p:nvSpPr>
        <p:spPr>
          <a:xfrm>
            <a:off x="571500" y="1762125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DHCP Server Configuration</a:t>
            </a:r>
            <a:endParaRPr/>
          </a:p>
        </p:txBody>
      </p:sp>
      <p:sp>
        <p:nvSpPr>
          <p:cNvPr id="179" name="Google Shape;179;p21"/>
          <p:cNvSpPr txBox="1"/>
          <p:nvPr/>
        </p:nvSpPr>
        <p:spPr>
          <a:xfrm>
            <a:off x="571500" y="2390775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DHCP scopes are defined for all four VLANs to provide automatic IP addressing to endpoints.</a:t>
            </a:r>
            <a:endParaRPr/>
          </a:p>
        </p:txBody>
      </p:sp>
      <p:sp>
        <p:nvSpPr>
          <p:cNvPr id="180" name="Google Shape;180;p21"/>
          <p:cNvSpPr txBox="1"/>
          <p:nvPr/>
        </p:nvSpPr>
        <p:spPr>
          <a:xfrm>
            <a:off x="571500" y="3076575"/>
            <a:ext cx="52863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VLAN10 (Sales):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192.168.10.10 - 192.168.10.100</a:t>
            </a:r>
            <a:endParaRPr/>
          </a:p>
        </p:txBody>
      </p:sp>
      <p:sp>
        <p:nvSpPr>
          <p:cNvPr id="181" name="Google Shape;181;p21"/>
          <p:cNvSpPr txBox="1"/>
          <p:nvPr/>
        </p:nvSpPr>
        <p:spPr>
          <a:xfrm>
            <a:off x="571500" y="3476625"/>
            <a:ext cx="52863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VLAN20 (IT):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192.168.20.10 - 192.168.20.100</a:t>
            </a:r>
            <a:endParaRPr/>
          </a:p>
        </p:txBody>
      </p:sp>
      <p:sp>
        <p:nvSpPr>
          <p:cNvPr id="182" name="Google Shape;182;p21"/>
          <p:cNvSpPr txBox="1"/>
          <p:nvPr/>
        </p:nvSpPr>
        <p:spPr>
          <a:xfrm>
            <a:off x="571500" y="3876675"/>
            <a:ext cx="52863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VLAN30 (HR):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192.168.30.10 - 192.168.30.100</a:t>
            </a:r>
            <a:endParaRPr/>
          </a:p>
        </p:txBody>
      </p:sp>
      <p:sp>
        <p:nvSpPr>
          <p:cNvPr id="183" name="Google Shape;183;p21"/>
          <p:cNvSpPr txBox="1"/>
          <p:nvPr/>
        </p:nvSpPr>
        <p:spPr>
          <a:xfrm>
            <a:off x="571500" y="4276725"/>
            <a:ext cx="52863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VLAN40 (Manager):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192.168.40.10 - 192.168.40.100</a:t>
            </a:r>
            <a:endParaRPr/>
          </a:p>
        </p:txBody>
      </p:sp>
      <p:sp>
        <p:nvSpPr>
          <p:cNvPr id="184" name="Google Shape;184;p2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FortiGate VLAN Interfaces (2)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2" title="IMG-20251114-WA0012.jpg"/>
          <p:cNvPicPr preferRelativeResize="0"/>
          <p:nvPr/>
        </p:nvPicPr>
        <p:blipFill rotWithShape="1">
          <a:blip r:embed="rId4">
            <a:alphaModFix/>
          </a:blip>
          <a:srcRect l="20081" r="20081"/>
          <a:stretch/>
        </p:blipFill>
        <p:spPr>
          <a:xfrm>
            <a:off x="5857875" y="1527900"/>
            <a:ext cx="6015574" cy="4286251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2"/>
          <p:cNvSpPr txBox="1"/>
          <p:nvPr/>
        </p:nvSpPr>
        <p:spPr>
          <a:xfrm>
            <a:off x="571500" y="1762125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Routing Configuration</a:t>
            </a:r>
            <a:endParaRPr/>
          </a:p>
        </p:txBody>
      </p:sp>
      <p:sp>
        <p:nvSpPr>
          <p:cNvPr id="192" name="Google Shape;192;p22"/>
          <p:cNvSpPr txBox="1"/>
          <p:nvPr/>
        </p:nvSpPr>
        <p:spPr>
          <a:xfrm>
            <a:off x="571500" y="2390775"/>
            <a:ext cx="528637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default static route (0.0.0.0/0) is configured to point all outbound traffic to the WAN interface gateway.</a:t>
            </a:r>
            <a:endParaRPr/>
          </a:p>
        </p:txBody>
      </p:sp>
      <p:sp>
        <p:nvSpPr>
          <p:cNvPr id="193" name="Google Shape;193;p22"/>
          <p:cNvSpPr txBox="1"/>
          <p:nvPr/>
        </p:nvSpPr>
        <p:spPr>
          <a:xfrm>
            <a:off x="571500" y="3086100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Internal routes (connected routes) are automatically created for each VLAN sub-interface, enabling the FortiGate to route between them.</a:t>
            </a:r>
            <a:endParaRPr/>
          </a:p>
        </p:txBody>
      </p:sp>
      <p:sp>
        <p:nvSpPr>
          <p:cNvPr id="194" name="Google Shape;194;p2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Static Routes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3" title="IMG-20251114-WA0021.jpg"/>
          <p:cNvPicPr preferRelativeResize="0"/>
          <p:nvPr/>
        </p:nvPicPr>
        <p:blipFill rotWithShape="1">
          <a:blip r:embed="rId4">
            <a:alphaModFix/>
          </a:blip>
          <a:srcRect l="19554" r="19548"/>
          <a:stretch/>
        </p:blipFill>
        <p:spPr>
          <a:xfrm>
            <a:off x="6334125" y="1762125"/>
            <a:ext cx="5286374" cy="4286249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3"/>
          <p:cNvSpPr txBox="1"/>
          <p:nvPr/>
        </p:nvSpPr>
        <p:spPr>
          <a:xfrm>
            <a:off x="571500" y="1762125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Inter-VLAN Policies</a:t>
            </a:r>
            <a:endParaRPr/>
          </a:p>
        </p:txBody>
      </p:sp>
      <p:sp>
        <p:nvSpPr>
          <p:cNvPr id="202" name="Google Shape;202;p23"/>
          <p:cNvSpPr txBox="1"/>
          <p:nvPr/>
        </p:nvSpPr>
        <p:spPr>
          <a:xfrm>
            <a:off x="571500" y="2390775"/>
            <a:ext cx="52863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Policy 1: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Allows traffic between VLAN10 (Sales) and VLAN20 (IT).</a:t>
            </a:r>
            <a:endParaRPr/>
          </a:p>
        </p:txBody>
      </p:sp>
      <p:sp>
        <p:nvSpPr>
          <p:cNvPr id="203" name="Google Shape;203;p23"/>
          <p:cNvSpPr txBox="1"/>
          <p:nvPr/>
        </p:nvSpPr>
        <p:spPr>
          <a:xfrm>
            <a:off x="571500" y="2819400"/>
            <a:ext cx="52863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Policy 2: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Allows traffic between VLAN30 (HR) and VLAN40 (Manager).</a:t>
            </a:r>
            <a:endParaRPr/>
          </a:p>
        </p:txBody>
      </p:sp>
      <p:sp>
        <p:nvSpPr>
          <p:cNvPr id="204" name="Google Shape;204;p23"/>
          <p:cNvSpPr txBox="1"/>
          <p:nvPr/>
        </p:nvSpPr>
        <p:spPr>
          <a:xfrm>
            <a:off x="571500" y="3248025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NAT (Network Address Translation) is disabled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on these internal policies to allow true routing and visibility of source IPs.</a:t>
            </a:r>
            <a:endParaRPr/>
          </a:p>
        </p:txBody>
      </p:sp>
      <p:sp>
        <p:nvSpPr>
          <p:cNvPr id="205" name="Google Shape;205;p23"/>
          <p:cNvSpPr txBox="1"/>
          <p:nvPr/>
        </p:nvSpPr>
        <p:spPr>
          <a:xfrm>
            <a:off x="571500" y="3933825"/>
            <a:ext cx="52863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separate policy handles Internet-bound traffic (NAT enabled).</a:t>
            </a:r>
            <a:endParaRPr/>
          </a:p>
        </p:txBody>
      </p:sp>
      <p:sp>
        <p:nvSpPr>
          <p:cNvPr id="206" name="Google Shape;206;p2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Firewall Policies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4"/>
          <p:cNvSpPr txBox="1"/>
          <p:nvPr/>
        </p:nvSpPr>
        <p:spPr>
          <a:xfrm>
            <a:off x="571500" y="1628775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VLAN Sub-interface CLI</a:t>
            </a:r>
            <a:endParaRPr/>
          </a:p>
        </p:txBody>
      </p:sp>
      <p:sp>
        <p:nvSpPr>
          <p:cNvPr id="213" name="Google Shape;213;p24"/>
          <p:cNvSpPr txBox="1"/>
          <p:nvPr/>
        </p:nvSpPr>
        <p:spPr>
          <a:xfrm>
            <a:off x="571500" y="2257425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Example configuration for creating a VLAN interface via the FortiGate CLI.</a:t>
            </a:r>
            <a:endParaRPr/>
          </a:p>
        </p:txBody>
      </p:sp>
      <p:sp>
        <p:nvSpPr>
          <p:cNvPr id="214" name="Google Shape;214;p24"/>
          <p:cNvSpPr txBox="1"/>
          <p:nvPr/>
        </p:nvSpPr>
        <p:spPr>
          <a:xfrm>
            <a:off x="571500" y="2943225"/>
            <a:ext cx="52863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This method is fast, scriptable, and provides full access to all options.</a:t>
            </a:r>
            <a:endParaRPr/>
          </a:p>
        </p:txBody>
      </p:sp>
      <p:sp>
        <p:nvSpPr>
          <p:cNvPr id="215" name="Google Shape;215;p2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FortiGate CLI – Interfaces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5"/>
          <p:cNvSpPr txBox="1"/>
          <p:nvPr/>
        </p:nvSpPr>
        <p:spPr>
          <a:xfrm>
            <a:off x="571500" y="1628775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Inter-VLAN Policy CLI</a:t>
            </a:r>
            <a:endParaRPr/>
          </a:p>
        </p:txBody>
      </p:sp>
      <p:sp>
        <p:nvSpPr>
          <p:cNvPr id="222" name="Google Shape;222;p25"/>
          <p:cNvSpPr txBox="1"/>
          <p:nvPr/>
        </p:nvSpPr>
        <p:spPr>
          <a:xfrm>
            <a:off x="571500" y="2257425"/>
            <a:ext cx="52863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Example CLI configuration for an internal firewall policy.</a:t>
            </a:r>
            <a:endParaRPr/>
          </a:p>
        </p:txBody>
      </p:sp>
      <p:sp>
        <p:nvSpPr>
          <p:cNvPr id="223" name="Google Shape;223;p25"/>
          <p:cNvSpPr txBox="1"/>
          <p:nvPr/>
        </p:nvSpPr>
        <p:spPr>
          <a:xfrm>
            <a:off x="571500" y="2686050"/>
            <a:ext cx="52863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Note that nat disable is explicitly set.</a:t>
            </a:r>
            <a:endParaRPr/>
          </a:p>
        </p:txBody>
      </p:sp>
      <p:sp>
        <p:nvSpPr>
          <p:cNvPr id="224" name="Google Shape;224;p2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FortiGate CLI – Policy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6" title="IMG-20251114-WA0016.jpg"/>
          <p:cNvPicPr preferRelativeResize="0"/>
          <p:nvPr/>
        </p:nvPicPr>
        <p:blipFill rotWithShape="1">
          <a:blip r:embed="rId4">
            <a:alphaModFix/>
          </a:blip>
          <a:srcRect l="5156" r="5156"/>
          <a:stretch/>
        </p:blipFill>
        <p:spPr>
          <a:xfrm>
            <a:off x="571500" y="2190750"/>
            <a:ext cx="5334000" cy="2857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6" title="IMG-20251114-WA0019.jpg"/>
          <p:cNvPicPr preferRelativeResize="0"/>
          <p:nvPr/>
        </p:nvPicPr>
        <p:blipFill rotWithShape="1">
          <a:blip r:embed="rId5">
            <a:alphaModFix/>
          </a:blip>
          <a:srcRect l="6903" r="6912"/>
          <a:stretch/>
        </p:blipFill>
        <p:spPr>
          <a:xfrm>
            <a:off x="6286500" y="2190750"/>
            <a:ext cx="53340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6"/>
          <p:cNvSpPr txBox="1"/>
          <p:nvPr/>
        </p:nvSpPr>
        <p:spPr>
          <a:xfrm>
            <a:off x="571500" y="523875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Successful ping from HR (VLAN30) to Manager (VLAN40).</a:t>
            </a:r>
            <a:endParaRPr/>
          </a:p>
        </p:txBody>
      </p:sp>
      <p:sp>
        <p:nvSpPr>
          <p:cNvPr id="233" name="Google Shape;233;p26"/>
          <p:cNvSpPr txBox="1"/>
          <p:nvPr/>
        </p:nvSpPr>
        <p:spPr>
          <a:xfrm>
            <a:off x="6286500" y="523875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Successful ping from Manager (VLAN40) to HR (VLAN30).</a:t>
            </a:r>
            <a:endParaRPr/>
          </a:p>
        </p:txBody>
      </p:sp>
      <p:sp>
        <p:nvSpPr>
          <p:cNvPr id="234" name="Google Shape;234;p2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Connectivity Test: HR ↔ Manager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7" title="IMG-20251114-WA0015.jpg"/>
          <p:cNvPicPr preferRelativeResize="0"/>
          <p:nvPr/>
        </p:nvPicPr>
        <p:blipFill rotWithShape="1">
          <a:blip r:embed="rId4">
            <a:alphaModFix/>
          </a:blip>
          <a:srcRect l="21043" r="21049"/>
          <a:stretch/>
        </p:blipFill>
        <p:spPr>
          <a:xfrm>
            <a:off x="6334125" y="1762125"/>
            <a:ext cx="5286374" cy="4286249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7"/>
          <p:cNvSpPr txBox="1"/>
          <p:nvPr/>
        </p:nvSpPr>
        <p:spPr>
          <a:xfrm>
            <a:off x="571500" y="1762125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Cross-Department Ping</a:t>
            </a:r>
            <a:endParaRPr/>
          </a:p>
        </p:txBody>
      </p:sp>
      <p:sp>
        <p:nvSpPr>
          <p:cNvPr id="242" name="Google Shape;242;p27"/>
          <p:cNvSpPr txBox="1"/>
          <p:nvPr/>
        </p:nvSpPr>
        <p:spPr>
          <a:xfrm>
            <a:off x="571500" y="2390775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connectivity test is initiated from the Manager VLAN (VLAN40) to the Sales VLAN (VLAN10).</a:t>
            </a:r>
            <a:endParaRPr/>
          </a:p>
        </p:txBody>
      </p:sp>
      <p:sp>
        <p:nvSpPr>
          <p:cNvPr id="243" name="Google Shape;243;p27"/>
          <p:cNvSpPr txBox="1"/>
          <p:nvPr/>
        </p:nvSpPr>
        <p:spPr>
          <a:xfrm>
            <a:off x="571500" y="3076575"/>
            <a:ext cx="528637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Result: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The ping fails as intended. This demonstrates successful segmentation, as no firewall policy exists to allow this specific traffic path.</a:t>
            </a:r>
            <a:endParaRPr/>
          </a:p>
        </p:txBody>
      </p:sp>
      <p:sp>
        <p:nvSpPr>
          <p:cNvPr id="244" name="Google Shape;244;p2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Connectivity Test: Manager ↔ Sales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8" title="IMG-20251114-WA0013.jpg"/>
          <p:cNvPicPr preferRelativeResize="0"/>
          <p:nvPr/>
        </p:nvPicPr>
        <p:blipFill rotWithShape="1">
          <a:blip r:embed="rId4">
            <a:alphaModFix/>
          </a:blip>
          <a:srcRect l="20373" r="20367"/>
          <a:stretch/>
        </p:blipFill>
        <p:spPr>
          <a:xfrm>
            <a:off x="6334125" y="1762125"/>
            <a:ext cx="5286374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8"/>
          <p:cNvSpPr txBox="1"/>
          <p:nvPr/>
        </p:nvSpPr>
        <p:spPr>
          <a:xfrm>
            <a:off x="571500" y="1762125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Internet Access Policy</a:t>
            </a:r>
            <a:endParaRPr/>
          </a:p>
        </p:txBody>
      </p:sp>
      <p:sp>
        <p:nvSpPr>
          <p:cNvPr id="252" name="Google Shape;252;p28"/>
          <p:cNvSpPr txBox="1"/>
          <p:nvPr/>
        </p:nvSpPr>
        <p:spPr>
          <a:xfrm>
            <a:off x="571500" y="2390775"/>
            <a:ext cx="528637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firewall policy is created from all internal VLANs (LAN) to the wan1 (WAN) interface.</a:t>
            </a:r>
            <a:endParaRPr/>
          </a:p>
        </p:txBody>
      </p:sp>
      <p:sp>
        <p:nvSpPr>
          <p:cNvPr id="253" name="Google Shape;253;p28"/>
          <p:cNvSpPr txBox="1"/>
          <p:nvPr/>
        </p:nvSpPr>
        <p:spPr>
          <a:xfrm>
            <a:off x="571500" y="3086100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NAT (Network Address Translation) is enabled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on this policy, allowing all internal devices to share the single public IP.</a:t>
            </a:r>
            <a:endParaRPr/>
          </a:p>
        </p:txBody>
      </p:sp>
      <p:sp>
        <p:nvSpPr>
          <p:cNvPr id="254" name="Google Shape;254;p28"/>
          <p:cNvSpPr txBox="1"/>
          <p:nvPr/>
        </p:nvSpPr>
        <p:spPr>
          <a:xfrm>
            <a:off x="571500" y="3771900"/>
            <a:ext cx="52863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Test: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Successful ping from Manager (VLAN40) to 8.8.8.8.</a:t>
            </a:r>
            <a:endParaRPr/>
          </a:p>
        </p:txBody>
      </p:sp>
      <p:sp>
        <p:nvSpPr>
          <p:cNvPr id="255" name="Google Shape;255;p2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Internet Access (Manager)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9" title="IMG-20251114-WA0020.jpg"/>
          <p:cNvPicPr preferRelativeResize="0"/>
          <p:nvPr/>
        </p:nvPicPr>
        <p:blipFill rotWithShape="1">
          <a:blip r:embed="rId4">
            <a:alphaModFix/>
          </a:blip>
          <a:srcRect l="20951" r="20945"/>
          <a:stretch/>
        </p:blipFill>
        <p:spPr>
          <a:xfrm>
            <a:off x="6334125" y="1762125"/>
            <a:ext cx="5286374" cy="4286251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9"/>
          <p:cNvSpPr txBox="1"/>
          <p:nvPr/>
        </p:nvSpPr>
        <p:spPr>
          <a:xfrm>
            <a:off x="571500" y="1762125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Full Connectivity Test (IT)</a:t>
            </a:r>
            <a:endParaRPr/>
          </a:p>
        </p:txBody>
      </p:sp>
      <p:sp>
        <p:nvSpPr>
          <p:cNvPr id="263" name="Google Shape;263;p29"/>
          <p:cNvSpPr txBox="1"/>
          <p:nvPr/>
        </p:nvSpPr>
        <p:spPr>
          <a:xfrm>
            <a:off x="571500" y="2390775"/>
            <a:ext cx="52863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IT VLAN (VLAN20) is tested for full connectivity:</a:t>
            </a:r>
            <a:endParaRPr/>
          </a:p>
        </p:txBody>
      </p:sp>
      <p:sp>
        <p:nvSpPr>
          <p:cNvPr id="264" name="Google Shape;264;p29"/>
          <p:cNvSpPr txBox="1"/>
          <p:nvPr/>
        </p:nvSpPr>
        <p:spPr>
          <a:xfrm>
            <a:off x="752475" y="2819400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▪</a:t>
            </a:r>
            <a:endParaRPr/>
          </a:p>
        </p:txBody>
      </p:sp>
      <p:sp>
        <p:nvSpPr>
          <p:cNvPr id="265" name="Google Shape;265;p29"/>
          <p:cNvSpPr txBox="1"/>
          <p:nvPr/>
        </p:nvSpPr>
        <p:spPr>
          <a:xfrm>
            <a:off x="809625" y="2819400"/>
            <a:ext cx="5048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Test 1: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Ping to Sales (VLAN10) - </a:t>
            </a: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Success</a:t>
            </a:r>
            <a:endParaRPr/>
          </a:p>
        </p:txBody>
      </p:sp>
      <p:sp>
        <p:nvSpPr>
          <p:cNvPr id="266" name="Google Shape;266;p29"/>
          <p:cNvSpPr txBox="1"/>
          <p:nvPr/>
        </p:nvSpPr>
        <p:spPr>
          <a:xfrm>
            <a:off x="752475" y="3219450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▪</a:t>
            </a:r>
            <a:endParaRPr/>
          </a:p>
        </p:txBody>
      </p:sp>
      <p:sp>
        <p:nvSpPr>
          <p:cNvPr id="267" name="Google Shape;267;p29"/>
          <p:cNvSpPr txBox="1"/>
          <p:nvPr/>
        </p:nvSpPr>
        <p:spPr>
          <a:xfrm>
            <a:off x="809625" y="3219450"/>
            <a:ext cx="5048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Test 2: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Ping to HR (VLAN30) - </a:t>
            </a: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Fail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(As expected)</a:t>
            </a:r>
            <a:endParaRPr/>
          </a:p>
        </p:txBody>
      </p:sp>
      <p:sp>
        <p:nvSpPr>
          <p:cNvPr id="268" name="Google Shape;268;p29"/>
          <p:cNvSpPr txBox="1"/>
          <p:nvPr/>
        </p:nvSpPr>
        <p:spPr>
          <a:xfrm>
            <a:off x="752475" y="3619500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▪</a:t>
            </a:r>
            <a:endParaRPr/>
          </a:p>
        </p:txBody>
      </p:sp>
      <p:sp>
        <p:nvSpPr>
          <p:cNvPr id="269" name="Google Shape;269;p29"/>
          <p:cNvSpPr txBox="1"/>
          <p:nvPr/>
        </p:nvSpPr>
        <p:spPr>
          <a:xfrm>
            <a:off x="809625" y="3619500"/>
            <a:ext cx="5048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Test 3: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Ping to Gateway (192.168.20.1) - </a:t>
            </a: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Success</a:t>
            </a:r>
            <a:endParaRPr/>
          </a:p>
        </p:txBody>
      </p:sp>
      <p:sp>
        <p:nvSpPr>
          <p:cNvPr id="270" name="Google Shape;270;p29"/>
          <p:cNvSpPr txBox="1"/>
          <p:nvPr/>
        </p:nvSpPr>
        <p:spPr>
          <a:xfrm>
            <a:off x="752475" y="4019550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▪</a:t>
            </a:r>
            <a:endParaRPr/>
          </a:p>
        </p:txBody>
      </p:sp>
      <p:sp>
        <p:nvSpPr>
          <p:cNvPr id="271" name="Google Shape;271;p29"/>
          <p:cNvSpPr txBox="1"/>
          <p:nvPr/>
        </p:nvSpPr>
        <p:spPr>
          <a:xfrm>
            <a:off x="809625" y="4019550"/>
            <a:ext cx="5048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Test 4: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Ping to Internet (8.8.8.8) - </a:t>
            </a: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Success</a:t>
            </a:r>
            <a:endParaRPr/>
          </a:p>
        </p:txBody>
      </p:sp>
      <p:sp>
        <p:nvSpPr>
          <p:cNvPr id="272" name="Google Shape;272;p2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Final Ping – IT VLAN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0"/>
          <p:cNvSpPr txBox="1"/>
          <p:nvPr/>
        </p:nvSpPr>
        <p:spPr>
          <a:xfrm>
            <a:off x="2190750" y="2562225"/>
            <a:ext cx="81915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Trunk Tagging: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802.1q trunking is essential for carrying multiple VLANs over a single link to the firewall.</a:t>
            </a:r>
            <a:endParaRPr/>
          </a:p>
        </p:txBody>
      </p:sp>
      <p:sp>
        <p:nvSpPr>
          <p:cNvPr id="279" name="Google Shape;279;p30"/>
          <p:cNvSpPr txBox="1"/>
          <p:nvPr/>
        </p:nvSpPr>
        <p:spPr>
          <a:xfrm>
            <a:off x="2190750" y="3009900"/>
            <a:ext cx="81915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Sub-interfaces: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FortiGate sub-interfaces are the key to enabling Layer 3 inter-VLAN routing.</a:t>
            </a:r>
            <a:endParaRPr/>
          </a:p>
        </p:txBody>
      </p:sp>
      <p:sp>
        <p:nvSpPr>
          <p:cNvPr id="280" name="Google Shape;280;p30"/>
          <p:cNvSpPr txBox="1"/>
          <p:nvPr/>
        </p:nvSpPr>
        <p:spPr>
          <a:xfrm>
            <a:off x="2190750" y="3457575"/>
            <a:ext cx="81915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NAT Behavior: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NAT must be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disabled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for internal inter-VLAN policies but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enabled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for Internet-bound policies.</a:t>
            </a:r>
            <a:endParaRPr/>
          </a:p>
        </p:txBody>
      </p:sp>
      <p:sp>
        <p:nvSpPr>
          <p:cNvPr id="281" name="Google Shape;281;p30"/>
          <p:cNvSpPr txBox="1"/>
          <p:nvPr/>
        </p:nvSpPr>
        <p:spPr>
          <a:xfrm>
            <a:off x="2190750" y="3905250"/>
            <a:ext cx="81915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DHCP per VLAN: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FortiGate's built-in DHCP server simplifies IP management for each segment.</a:t>
            </a:r>
            <a:endParaRPr/>
          </a:p>
        </p:txBody>
      </p:sp>
      <p:sp>
        <p:nvSpPr>
          <p:cNvPr id="282" name="Google Shape;282;p30"/>
          <p:cNvSpPr txBox="1"/>
          <p:nvPr/>
        </p:nvSpPr>
        <p:spPr>
          <a:xfrm>
            <a:off x="2190750" y="4352925"/>
            <a:ext cx="81915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Portfast: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Enabled on switch access ports to bypass Spanning Tree states and speed up device connectivity.</a:t>
            </a:r>
            <a:endParaRPr/>
          </a:p>
        </p:txBody>
      </p:sp>
      <p:sp>
        <p:nvSpPr>
          <p:cNvPr id="283" name="Google Shape;283;p30"/>
          <p:cNvSpPr txBox="1"/>
          <p:nvPr/>
        </p:nvSpPr>
        <p:spPr>
          <a:xfrm>
            <a:off x="2190750" y="4800600"/>
            <a:ext cx="81915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Performance: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Lab results show stable latency and 0% packet loss on all successful connectivity tests.</a:t>
            </a:r>
            <a:endParaRPr/>
          </a:p>
        </p:txBody>
      </p:sp>
      <p:pic>
        <p:nvPicPr>
          <p:cNvPr id="284" name="Google Shape;284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260985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3057525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3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350520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3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09750" y="395287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3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809750" y="440055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3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809750" y="484822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Observations &amp; Best Practices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1"/>
          <p:cNvSpPr txBox="1"/>
          <p:nvPr/>
        </p:nvSpPr>
        <p:spPr>
          <a:xfrm>
            <a:off x="295275" y="2490787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/>
          </a:p>
        </p:txBody>
      </p:sp>
      <p:sp>
        <p:nvSpPr>
          <p:cNvPr id="297" name="Google Shape;297;p31"/>
          <p:cNvSpPr txBox="1"/>
          <p:nvPr/>
        </p:nvSpPr>
        <p:spPr>
          <a:xfrm>
            <a:off x="571500" y="3843337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897</Words>
  <Application>Microsoft Office PowerPoint</Application>
  <PresentationFormat>Widescreen</PresentationFormat>
  <Paragraphs>100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Calibri</vt:lpstr>
      <vt:lpstr>Arial</vt:lpstr>
      <vt:lpstr>Poppins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mohamed karem ali</cp:lastModifiedBy>
  <cp:revision>2</cp:revision>
  <dcterms:modified xsi:type="dcterms:W3CDTF">2025-11-14T16:08:34Z</dcterms:modified>
</cp:coreProperties>
</file>